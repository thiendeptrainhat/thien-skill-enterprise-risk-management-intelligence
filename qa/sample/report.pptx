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fbb5a514d3745b4" /><Relationship Type="http://schemas.openxmlformats.org/officeDocument/2006/relationships/extended-properties" Target="/docProps/app.xml" Id="R4d08a6df60db4976" /><Relationship Type="http://schemas.openxmlformats.org/officeDocument/2006/relationships/officeDocument" Target="/ppt/presentation.xml" Id="Ra075cfae2c604c0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b9de9700f594775"/>
  </p:sldMasterIdLst>
  <p:notesMasterIdLst>
    <p:notesMasterId xmlns:r="http://schemas.openxmlformats.org/officeDocument/2006/relationships" r:id="R31b8f8c4792a467d"/>
  </p:notesMasterIdLst>
  <p:sldIdLst>
    <p:sldId xmlns:r="http://schemas.openxmlformats.org/officeDocument/2006/relationships" id="256" r:id="R850ef2307c724203"/>
    <p:sldId xmlns:r="http://schemas.openxmlformats.org/officeDocument/2006/relationships" id="257" r:id="R3935278b9e274abf"/>
    <p:sldId xmlns:r="http://schemas.openxmlformats.org/officeDocument/2006/relationships" id="258" r:id="Re12b69cd9603487e"/>
    <p:sldId xmlns:r="http://schemas.openxmlformats.org/officeDocument/2006/relationships" id="259" r:id="R22bb94ee2506464d"/>
    <p:sldId xmlns:r="http://schemas.openxmlformats.org/officeDocument/2006/relationships" id="260" r:id="R4f5365f75a334f94"/>
    <p:sldId xmlns:r="http://schemas.openxmlformats.org/officeDocument/2006/relationships" id="261" r:id="R2601c0a40cc84295"/>
    <p:sldId xmlns:r="http://schemas.openxmlformats.org/officeDocument/2006/relationships" id="262" r:id="Ra93ad398545b4e3a"/>
    <p:sldId xmlns:r="http://schemas.openxmlformats.org/officeDocument/2006/relationships" id="263" r:id="Ra5bfb74f800b46c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2aabc6a74fd4eeb" /><Relationship Type="http://schemas.openxmlformats.org/officeDocument/2006/relationships/slideMaster" Target="/ppt/slideMasters/slideMaster1.xml" Id="R9b9de9700f594775" /><Relationship Type="http://schemas.openxmlformats.org/officeDocument/2006/relationships/notesMaster" Target="/ppt/notesMasters/notesMaster1.xml" Id="R31b8f8c4792a467d" /><Relationship Type="http://schemas.openxmlformats.org/officeDocument/2006/relationships/presProps" Target="/ppt/presProps.xml" Id="R038071c5683546cd" /><Relationship Type="http://schemas.openxmlformats.org/officeDocument/2006/relationships/tableStyles" Target="/ppt/tableStyles.xml" Id="Rf94f31603c1c4baf" /><Relationship Type="http://schemas.openxmlformats.org/officeDocument/2006/relationships/slide" Target="/ppt/slides/slide1.xml" Id="R850ef2307c724203" /><Relationship Type="http://schemas.openxmlformats.org/officeDocument/2006/relationships/slide" Target="/ppt/slides/slide2.xml" Id="R3935278b9e274abf" /><Relationship Type="http://schemas.openxmlformats.org/officeDocument/2006/relationships/slide" Target="/ppt/slides/slide3.xml" Id="Re12b69cd9603487e" /><Relationship Type="http://schemas.openxmlformats.org/officeDocument/2006/relationships/slide" Target="/ppt/slides/slide4.xml" Id="R22bb94ee2506464d" /><Relationship Type="http://schemas.openxmlformats.org/officeDocument/2006/relationships/slide" Target="/ppt/slides/slide5.xml" Id="R4f5365f75a334f94" /><Relationship Type="http://schemas.openxmlformats.org/officeDocument/2006/relationships/slide" Target="/ppt/slides/slide6.xml" Id="R2601c0a40cc84295" /><Relationship Type="http://schemas.openxmlformats.org/officeDocument/2006/relationships/slide" Target="/ppt/slides/slide7.xml" Id="Ra93ad398545b4e3a" /><Relationship Type="http://schemas.openxmlformats.org/officeDocument/2006/relationships/slide" Target="/ppt/slides/slide8.xml" Id="Ra5bfb74f800b46c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4e62c58bcb3496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36c115d99654296" /><Relationship Type="http://schemas.openxmlformats.org/officeDocument/2006/relationships/notesMaster" Target="/ppt/notesMasters/notesMaster1.xml" Id="R1d5e26916259491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77b672a4d11482a" /><Relationship Type="http://schemas.openxmlformats.org/officeDocument/2006/relationships/notesMaster" Target="/ppt/notesMasters/notesMaster1.xml" Id="R8831ecb05ef6497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b370e42967a45c7" /><Relationship Type="http://schemas.openxmlformats.org/officeDocument/2006/relationships/notesMaster" Target="/ppt/notesMasters/notesMaster1.xml" Id="Rbb9f1f9986524c5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4902f8bc6184c96" /><Relationship Type="http://schemas.openxmlformats.org/officeDocument/2006/relationships/notesMaster" Target="/ppt/notesMasters/notesMaster1.xml" Id="Reea3a618f1aa4e9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16923716a0a4141" /><Relationship Type="http://schemas.openxmlformats.org/officeDocument/2006/relationships/notesMaster" Target="/ppt/notesMasters/notesMaster1.xml" Id="Re665faac31fe421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9035fd3c0ad4cb0" /><Relationship Type="http://schemas.openxmlformats.org/officeDocument/2006/relationships/notesMaster" Target="/ppt/notesMasters/notesMaster1.xml" Id="R90cf0f897dbf4e5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65c504f768040e9" /><Relationship Type="http://schemas.openxmlformats.org/officeDocument/2006/relationships/notesMaster" Target="/ppt/notesMasters/notesMaster1.xml" Id="Reeaa7cbbeec94a5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52536e391844ad2" /><Relationship Type="http://schemas.openxmlformats.org/officeDocument/2006/relationships/notesMaster" Target="/ppt/notesMasters/notesMaster1.xml" Id="R7a21e2b37561474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{"known_status":"capacity_breach","incomplete":true,"unresolved_metrics":1,"confirmed_breaches":2,"risk_count":3,"treatment_count":1,"decision":"Quyết định nguồn lực dự phòng và xử lý breach thanh khoản; chưa phê duyệt."}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SYN1: synthetic:fixture-v1</a:t>
            </a:r>
          </a:p>
          <a:p xmlns:a="http://schemas.openxmlformats.org/drawingml/2006/main">
            <a:r>
              <a:t>Owner-supplied TDTN logo.</a:t>
            </a:r>
          </a:p>
          <a:p xmlns:a="http://schemas.openxmlformats.org/drawingml/2006/main">
            <a:r>
              <a:t>Snapshot SHA-256: 8ea35412e7940ab5f83839d7febaab665d84806d4dea36239686bb7b7952d99d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{"risk":{"id":"R1","taxonomy_id":"T1","title":"Gián đoạn nguồn cung","cause":"Hai suppliers cùng cảng","event":"Cảng chung dừng dài hơn buffer","impact":"Thiếu hàng và giảm contribution","objective":"Bảo vệ cash và khả năng giao hàng","owner":"COO","scope":"Group","exposure":"1.000 đơn vị demand","evidence_ids":["SYN1"],"assessments":[{"id":"A1","risk_id":"R1","method_id":"M1","basis":"current","as_of":"2026-09-03","horizon":"Q4-2026","impact":4,"likelihood":3,"rating":"High","rationale":"Synthetic rating để kiểm tra hiển thị; R3 thiếu dữ liệu.","evidence_ids":["SYN1"],"approval":"approved"}],"appetite":{"known_status":"breach","incomplete":false,"unresolved_metrics":0,"confirmed_breaches":1}},"metrics":[{"id":"K1","label":"Capacity thiếu hụt","risk_ids":["R1"],"unit":"units","currency":"N/A","horizon":"Q4-2026","scope":"Group","bad_direction":"higher","formula":"max(demand-capacity,0)","owner":"COO","frequency":"monthly","max_age_days":40,"approval":"approved","approved_by":"Synthetic Board","rules":[{"op":"&gt;=","threshold":100,"severity":"warning"},{"op":"&gt;=","threshold":200,"severity":"breach"},{"op":"&gt;=","threshold":300,"severity":"capacity_breach"}],"action":"Xác nhận nguồn thay thế","value":200,"observed_at":"2026-09-03","quality":"valid","status":"breach","reason":"evaluated","matched":["warning","breach"],"headroom":[{"op":"&gt;=","limit":200,"headroom":"0","utilization":"1"}],"history":[{"id":"O11","metric_id":"K1","as_of":"2026-07-31","value":80,"quality":"valid","evidence_ids":["SYN1"],"unit":"units","currency":"N/A","horizon":"Q4-2026","scope":"Group"},{"id":"O12","metric_id":"K1","as_of":"2026-08-31","value":120,"quality":"valid","evidence_ids":["SYN1"],"unit":"units","currency":"N/A","horizon":"Q4-2026","scope":"Group"},{"id":"O13","metric_id":"K1","as_of":"2026-09-03","value":200,"quality":"valid","evidence_ids":["SYN1"],"unit":"units","currency":"N/A","horizon":"Q4-2026","scope":"Group"}]}]}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SYN1: synthetic:fixture-v1</a:t>
            </a:r>
          </a:p>
          <a:p xmlns:a="http://schemas.openxmlformats.org/drawingml/2006/main">
            <a:r>
              <a:t>Owner-supplied TDTN logo.</a:t>
            </a:r>
          </a:p>
          <a:p xmlns:a="http://schemas.openxmlformats.org/drawingml/2006/main">
            <a:r>
              <a:t>Snapshot SHA-256: 8ea35412e7940ab5f83839d7febaab665d84806d4dea36239686bb7b7952d99d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{"risk":{"id":"R2","taxonomy_id":"T1","title":"Thiếu hụt thanh khoản","cause":"Khách hàng trả chậm","event":"Thu tiền trễ hơn hạn thanh toán","impact":"Cash xuống dưới mức sàn","objective":"Bảo vệ cash và khả năng giao hàng","owner":"CFO","scope":"Group","exposure":"20.000 triệu VND cash","evidence_ids":["SYN1"],"assessments":[{"id":"A2","risk_id":"R2","method_id":"M1","basis":"current","as_of":"2026-09-03","horizon":"Q4-2026","impact":5,"likelihood":4,"rating":"Critical","rationale":"Synthetic rating để kiểm tra hiển thị; R3 thiếu dữ liệu.","evidence_ids":["SYN1"],"approval":"approved"}],"appetite":{"known_status":"capacity_breach","incomplete":false,"unresolved_metrics":0,"confirmed_breaches":1}},"metrics":[{"id":"K2","label":"Cash cuối kỳ","risk_ids":["R2"],"unit":"triệu","currency":"VND","horizon":"Q4-2026","scope":"Group","bad_direction":"lower","formula":"opening + inflows - outflows","owner":"CFO","frequency":"monthly","max_age_days":40,"approval":"approved","approved_by":"Synthetic Board","rules":[{"op":"&lt;=","threshold":5000,"severity":"warning"},{"op":"&lt;=","threshold":0,"severity":"breach"},{"op":"&lt;=","threshold":-1000,"severity":"capacity_breach"}],"action":"Escalate CFO/Board và cash plan","value":-2000,"observed_at":"2026-09-03","quality":"valid","status":"capacity_breach","reason":"evaluated","matched":["warning","breach","capacity_breach"],"headroom":[{"op":"&lt;=","limit":0,"headroom":"-2000","utilization":null}],"history":[{"id":"O21","metric_id":"K2","as_of":"2026-07-31","value":8000,"quality":"valid","evidence_ids":["SYN1"],"unit":"triệu","currency":"VND","horizon":"Q4-2026","scope":"Group"},{"id":"O22","metric_id":"K2","as_of":"2026-08-31","value":3000,"quality":"valid","evidence_ids":["SYN1"],"unit":"triệu","currency":"VND","horizon":"Q4-2026","scope":"Group"},{"id":"O23","metric_id":"K2","as_of":"2026-09-03","value":-2000,"quality":"valid","evidence_ids":["SYN1"],"unit":"triệu","currency":"VND","horizon":"Q4-2026","scope":"Group"}]}]}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SYN1: synthetic:fixture-v1</a:t>
            </a:r>
          </a:p>
          <a:p xmlns:a="http://schemas.openxmlformats.org/drawingml/2006/main">
            <a:r>
              <a:t>Owner-supplied TDTN logo.</a:t>
            </a:r>
          </a:p>
          <a:p xmlns:a="http://schemas.openxmlformats.org/drawingml/2006/main">
            <a:r>
              <a:t>Snapshot SHA-256: 8ea35412e7940ab5f83839d7febaab665d84806d4dea36239686bb7b7952d99d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{"risk":{"id":"R3","taxonomy_id":"T1","title":"Chất lượng và thu hồi","cause":"Sai lệch quá trình đóng gói","event":"Batch phải thu hồi","impact":"Chi phí recall và mất service","objective":"Bảo vệ cash và khả năng giao hàng","owner":"Quality Director","scope":"Group","exposure":"100 đơn vị recall","evidence_ids":["SYN1"],"assessments":[{"id":"A3","risk_id":"R3","method_id":"M1","basis":"current","as_of":"2026-09-03","horizon":"Q4-2026","impact":null,"likelihood":null,"rating":null,"rationale":"Synthetic rating để kiểm tra hiển thị; R3 thiếu dữ liệu.","evidence_ids":["SYN1"],"approval":"approved"}],"appetite":{"known_status":"UNKNOWN","incomplete":true,"unresolved_metrics":1,"confirmed_breaches":0}},"metrics":[{"id":"K3","label":"Complaint rate","risk_ids":["R3"],"unit":"ratio","currency":"N/A","horizon":"Q4-2026","scope":"Group","bad_direction":"higher","formula":"confirmed complaints / units sold","owner":"Quality Director","frequency":"monthly","max_age_days":40,"approval":"approved","approved_by":"Synthetic Board","rules":[{"op":"&gt;=","threshold":0.01,"severity":"warning"},{"op":"&gt;=","threshold":0.02,"severity":"breach"},{"op":"&gt;=","threshold":0.05,"severity":"capacity_breach"}],"action":"Xác minh complaint và batch","value":null,"observed_at":"2026-09-03","quality":"missing","status":"UNKNOWN","reason":"missing_stale_or_unconfigured","matched":[],"headroom":[],"history":[{"id":"O31","metric_id":"K3","as_of":"2026-07-31","value":null,"quality":"missing","evidence_ids":["SYN1"],"unit":"ratio","currency":"N/A","horizon":"Q4-2026","scope":"Group"},{"id":"O32","metric_id":"K3","as_of":"2026-08-31","value":null,"quality":"missing","evidence_ids":["SYN1"],"unit":"ratio","currency":"N/A","horizon":"Q4-2026","scope":"Group"},{"id":"O33","metric_id":"K3","as_of":"2026-09-03","value":null,"quality":"missing","evidence_ids":["SYN1"],"unit":"ratio","currency":"N/A","horizon":"Q4-2026","scope":"Group"}]}]}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SYN1: synthetic:fixture-v1</a:t>
            </a:r>
          </a:p>
          <a:p xmlns:a="http://schemas.openxmlformats.org/drawingml/2006/main">
            <a:r>
              <a:t>Owner-supplied TDTN logo.</a:t>
            </a:r>
          </a:p>
          <a:p xmlns:a="http://schemas.openxmlformats.org/drawingml/2006/main">
            <a:r>
              <a:t>Snapshot SHA-256: 8ea35412e7940ab5f83839d7febaab665d84806d4dea36239686bb7b7952d99d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{"scenario":{"id":"SC1","label":"Port outage + chậm thu tiền","kind":"stress","horizon":"Q4-2026","baseline":"Demand 1000, capacity1000; opening cash20000 triệu","assumptions":["Capacity800","Contribution40 triệu/unit","Recovery2000 triệu","Penalty1000 triệu","Inflows8000 triệu","Outflows30000 triệu"],"transmission":"Port dừng → capacity giảm → contribution mất; thu tiền trễ → cash breach","result":"Incremental loss 11000 triệu VND; closing cash -2000 triệu VND","limitations":"Synthetic combined stress; không có probability/forecast; không cộng cash balance với P&amp;L loss.","evidence_ids":["SYN1"]},"loss_totals":[{"total":"13000","eliminated":"0","unique_loss_count":2,"currency":"VND","horizon":"Q4-2026","scope":"Group","unit":"triệu","loss_concentration":{"total":"13000","shares":["0.8461538461538461538461538462","0.1538461538461538461538461538"],"hhi":"0.7396449704142011834319526628","largest_share":"0.8461538461538461538461538462"}}]}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SYN1: synthetic:fixture-v1</a:t>
            </a:r>
          </a:p>
          <a:p xmlns:a="http://schemas.openxmlformats.org/drawingml/2006/main">
            <a:r>
              <a:t>Owner-supplied TDTN logo.</a:t>
            </a:r>
          </a:p>
          <a:p xmlns:a="http://schemas.openxmlformats.org/drawingml/2006/main">
            <a:r>
              <a:t>Snapshot SHA-256: 8ea35412e7940ab5f83839d7febaab665d84806d4dea36239686bb7b7952d99d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{"id":"TR1","risk_ids":["R1","R2"],"option":"reduce","action":"Thử alternate port và cash contingency","owner":"COO + CFO","deadline":"2026-09-20","status":"proposed","cost":500,"currency":"VND","lead_time":"2 tuần","resource_constraint":"Cần 2 người; mới có 1","secondary_risk":"Alternate port tăng transit và phí","expected_benefit":"Giảm thời gian gián đoạn; chưa đo benefit thực tế","no_action_case":"Synthetic: giữ exposure gián đoạn và cash shortfall của SC1.","target":"Synthetic: khôi phục khả năng giao hàng; residual exposure chưa định lượng, chờ thử alternate port.","target_assessment_ids":[],"benefit_basis":"assumed","acceptance_authority":null,"evidence_ids":["SYN1"]}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SYN1: synthetic:fixture-v1</a:t>
            </a:r>
          </a:p>
          <a:p xmlns:a="http://schemas.openxmlformats.org/drawingml/2006/main">
            <a:r>
              <a:t>Owner-supplied TDTN logo.</a:t>
            </a:r>
          </a:p>
          <a:p xmlns:a="http://schemas.openxmlformats.org/drawingml/2006/main">
            <a:r>
              <a:t>Snapshot SHA-256: 8ea35412e7940ab5f83839d7febaab665d84806d4dea36239686bb7b7952d99d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{"id":"TR1","risk_ids":["R1","R2"],"option":"reduce","action":"Thử alternate port và cash contingency","owner":"COO + CFO","deadline":"2026-09-20","status":"proposed","cost":500,"currency":"VND","lead_time":"2 tuần","resource_constraint":"Cần 2 người; mới có 1","secondary_risk":"Alternate port tăng transit và phí","expected_benefit":"Giảm thời gian gián đoạn; chưa đo benefit thực tế","no_action_case":"Synthetic: giữ exposure gián đoạn và cash shortfall của SC1.","target":"Synthetic: khôi phục khả năng giao hàng; residual exposure chưa định lượng, chờ thử alternate port.","target_assessment_ids":[],"benefit_basis":"assumed","acceptance_authority":null,"evidence_ids":["SYN1"]}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SYN1: synthetic:fixture-v1</a:t>
            </a:r>
          </a:p>
          <a:p xmlns:a="http://schemas.openxmlformats.org/drawingml/2006/main">
            <a:r>
              <a:t>Owner-supplied TDTN logo.</a:t>
            </a:r>
          </a:p>
          <a:p xmlns:a="http://schemas.openxmlformats.org/drawingml/2006/main">
            <a:r>
              <a:t>Snapshot SHA-256: 8ea35412e7940ab5f83839d7febaab665d84806d4dea36239686bb7b7952d99d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["C1: no evidence; conclusion must disclose the gap"]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SYN1: synthetic:fixture-v1</a:t>
            </a:r>
          </a:p>
          <a:p xmlns:a="http://schemas.openxmlformats.org/drawingml/2006/main">
            <a:r>
              <a:t>Owner-supplied TDTN logo.</a:t>
            </a:r>
          </a:p>
          <a:p xmlns:a="http://schemas.openxmlformats.org/drawingml/2006/main">
            <a:r>
              <a:t>Snapshot SHA-256: 8ea35412e7940ab5f83839d7febaab665d84806d4dea36239686bb7b7952d99d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37c79dff6f48f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019d780d2b54a40" /><Relationship Type="http://schemas.openxmlformats.org/officeDocument/2006/relationships/slideLayout" Target="/ppt/slideLayouts/slideLayout1.xml" Id="R5f67b652435648a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f67b652435648a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716a420bae4f9e" /><Relationship Type="http://schemas.openxmlformats.org/officeDocument/2006/relationships/image" Target="/ppt/media/image.png" Id="Rafc00384ffff40ce" /><Relationship Type="http://schemas.openxmlformats.org/officeDocument/2006/relationships/notesSlide" Target="/ppt/notesSlides/notesSlide1.xml" Id="R0e0db74b2f3d42c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a7caeba1104e74" /><Relationship Type="http://schemas.openxmlformats.org/officeDocument/2006/relationships/notesSlide" Target="/ppt/notesSlides/notesSlide2.xml" Id="R9be22b3089b241e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c62a3e09754ca1" /><Relationship Type="http://schemas.openxmlformats.org/officeDocument/2006/relationships/notesSlide" Target="/ppt/notesSlides/notesSlide3.xml" Id="R30bdb43b2565454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19814c7bea4223" /><Relationship Type="http://schemas.openxmlformats.org/officeDocument/2006/relationships/notesSlide" Target="/ppt/notesSlides/notesSlide4.xml" Id="R45ac5f2344a94ca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8cea7bfa8043f3" /><Relationship Type="http://schemas.openxmlformats.org/officeDocument/2006/relationships/notesSlide" Target="/ppt/notesSlides/notesSlide5.xml" Id="R6d7003b920de483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8088d5876d4e94" /><Relationship Type="http://schemas.openxmlformats.org/officeDocument/2006/relationships/notesSlide" Target="/ppt/notesSlides/notesSlide6.xml" Id="Rdb3d34355af04fb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435c3fc3634741" /><Relationship Type="http://schemas.openxmlformats.org/officeDocument/2006/relationships/notesSlide" Target="/ppt/notesSlides/notesSlide7.xml" Id="Rdd20d83d43e2463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bae200ad954aa1" /><Relationship Type="http://schemas.openxmlformats.org/officeDocument/2006/relationships/notesSlide" Target="/ppt/notesSlides/notesSlide8.xml" Id="R403f405d7978498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291D7A-1462-448D-ABDD-F9473A116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AD7E22"/>
                </a:solidFill>
              </a:defRPr>
            </a:pPr>
            <a:r>
              <a:rPr sz="1350" b="1">
                <a:solidFill>
                  <a:srgbClr val="AD7E22"/>
                </a:solidFill>
              </a:rPr>
              <a:t>SYNTHETIC · DỮ LIỆU THỬ NGHIỆM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F8C4E4-309F-4AD3-8B03-F61174A7D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81075"/>
            <a:ext cx="108204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D4E"/>
                </a:solidFill>
              </a:defRPr>
            </a:pPr>
            <a:r>
              <a:rPr sz="3600" b="1">
                <a:solidFill>
                  <a:srgbClr val="142D4E"/>
                </a:solidFill>
              </a:rPr>
              <a:t>Quyết định về rủi ro doanh nghiệp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BFB3E9-ECF1-40A5-9C8D-034B2863C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43175"/>
            <a:ext cx="108204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D4E"/>
                </a:solidFill>
              </a:defRPr>
            </a:pPr>
            <a:r>
              <a:rPr sz="2025" b="0">
                <a:solidFill>
                  <a:srgbClr val="142D4E"/>
                </a:solidFill>
              </a:rPr>
              <a:t>3 risks · 2 metric breaches · 1 metric chưa đủ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2D4E"/>
                </a:solidFill>
              </a:defRPr>
            </a:pPr>
            <a:r>
              <a:rPr sz="2025" b="0">
                <a:solidFill>
                  <a:srgbClr val="142D4E"/>
                </a:solidFill>
              </a:rPr>
              <a:t>Quyết định nguồn lực dự phòng và xử lý breach thanh khoản; chưa phê duyệt.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480911-E861-40A2-B8D4-2E54B8D7E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48375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42D4E"/>
                </a:solidFill>
              </a:defRPr>
            </a:pPr>
            <a:r>
              <a:rPr sz="1350" b="0">
                <a:solidFill>
                  <a:srgbClr val="142D4E"/>
                </a:solidFill>
              </a:rPr>
              <a:t>Công ty Mẫu | 2026-09-03 | Q4-2026 | VND (triệu) | v1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c00384ffff40ce"/>
          <a:stretch xmlns:a="http://schemas.openxmlformats.org/drawingml/2006/main"/>
        </p:blipFill>
        <p:spPr>
          <a:xfrm xmlns:a="http://schemas.openxmlformats.org/drawingml/2006/main">
            <a:off x="10382250" y="4572000"/>
            <a:ext cx="1047750" cy="1047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520756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D5DFA6-CE9D-482B-8D5C-D82F4A04A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AD7E22"/>
                </a:solidFill>
              </a:defRPr>
            </a:pPr>
            <a:r>
              <a:rPr sz="1350" b="1">
                <a:solidFill>
                  <a:srgbClr val="AD7E22"/>
                </a:solidFill>
              </a:rPr>
              <a:t>SYNTHETIC · DỮ LIỆU THỬ NGHIỆM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D4A49C-DF80-4BFC-86AC-5EF1F216E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81075"/>
            <a:ext cx="108204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D4E"/>
                </a:solidFill>
              </a:defRPr>
            </a:pPr>
            <a:r>
              <a:rPr sz="3600" b="1">
                <a:solidFill>
                  <a:srgbClr val="142D4E"/>
                </a:solidFill>
              </a:rPr>
              <a:t>R1 · Gián đoạn nguồn cung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8D3960-37F7-4ED6-ABFD-8350C6B13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43175"/>
            <a:ext cx="108204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D4E"/>
                </a:solidFill>
              </a:defRPr>
            </a:pPr>
            <a:r>
              <a:rPr sz="2025" b="0">
                <a:solidFill>
                  <a:srgbClr val="142D4E"/>
                </a:solidFill>
              </a:rPr>
              <a:t>Hai suppliers cùng cảng → Cảng chung dừng dài hơn buffer</a:t>
            </a:r>
          </a:p>
          <a:p xmlns:a="http://schemas.openxmlformats.org/drawingml/2006/main">
            <a:pPr>
              <a:defRPr sz="2025" b="0">
                <a:solidFill>
                  <a:srgbClr val="142D4E"/>
                </a:solidFill>
              </a:defRPr>
            </a:pPr>
            <a:r>
              <a:rPr sz="2025" b="0">
                <a:solidFill>
                  <a:srgbClr val="142D4E"/>
                </a:solidFill>
              </a:rPr>
              <a:t>Thiếu hàng và giảm contribution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2D4E"/>
                </a:solidFill>
              </a:defRPr>
            </a:pPr>
            <a:r>
              <a:rPr sz="2025" b="0">
                <a:solidFill>
                  <a:srgbClr val="142D4E"/>
                </a:solidFill>
              </a:rPr>
              <a:t>Appetite: breach</a:t>
            </a:r>
          </a:p>
          <a:p xmlns:a="http://schemas.openxmlformats.org/drawingml/2006/main">
            <a:pPr>
              <a:defRPr sz="2025" b="0">
                <a:solidFill>
                  <a:srgbClr val="142D4E"/>
                </a:solidFill>
              </a:defRPr>
            </a:pPr>
            <a:r>
              <a:rPr sz="2025" b="0">
                <a:solidFill>
                  <a:srgbClr val="142D4E"/>
                </a:solidFill>
              </a:rPr>
              <a:t>Owner: COO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1B19A0-0298-4A77-8893-E65087D92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48375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42D4E"/>
                </a:solidFill>
              </a:defRPr>
            </a:pPr>
            <a:r>
              <a:rPr sz="1350" b="0">
                <a:solidFill>
                  <a:srgbClr val="142D4E"/>
                </a:solidFill>
              </a:rPr>
              <a:t>Công ty Mẫu | 2026-09-03 | Q4-2026 | VND (triệu) | v1</a:t>
            </a:r>
          </a:p>
        </p:txBody>
      </p:sp>
    </p:spTree>
    <p:extLst>
      <p:ext uri="{BB962C8B-B14F-4D97-AF65-F5344CB8AC3E}">
        <p14:creationId xmlns:p14="http://schemas.microsoft.com/office/powerpoint/2010/main" val="87922834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8EFDC1-B0A4-4DD3-9C5E-8D4700A43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AD7E22"/>
                </a:solidFill>
              </a:defRPr>
            </a:pPr>
            <a:r>
              <a:rPr sz="1350" b="1">
                <a:solidFill>
                  <a:srgbClr val="AD7E22"/>
                </a:solidFill>
              </a:rPr>
              <a:t>SYNTHETIC · DỮ LIỆU THỬ NGHIỆM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C2F4B0-C453-4742-9251-FD0BA9570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81075"/>
            <a:ext cx="108204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D4E"/>
                </a:solidFill>
              </a:defRPr>
            </a:pPr>
            <a:r>
              <a:rPr sz="3600" b="1">
                <a:solidFill>
                  <a:srgbClr val="142D4E"/>
                </a:solidFill>
              </a:rPr>
              <a:t>R2 · Thiếu hụt thanh khoản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BCF6BA-3D45-4CEF-A088-A597443D1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43175"/>
            <a:ext cx="108204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D4E"/>
                </a:solidFill>
              </a:defRPr>
            </a:pPr>
            <a:r>
              <a:rPr sz="2025" b="0">
                <a:solidFill>
                  <a:srgbClr val="142D4E"/>
                </a:solidFill>
              </a:rPr>
              <a:t>Khách hàng trả chậm → Thu tiền trễ hơn hạn thanh toán</a:t>
            </a:r>
          </a:p>
          <a:p xmlns:a="http://schemas.openxmlformats.org/drawingml/2006/main">
            <a:pPr>
              <a:defRPr sz="2025" b="0">
                <a:solidFill>
                  <a:srgbClr val="142D4E"/>
                </a:solidFill>
              </a:defRPr>
            </a:pPr>
            <a:r>
              <a:rPr sz="2025" b="0">
                <a:solidFill>
                  <a:srgbClr val="142D4E"/>
                </a:solidFill>
              </a:rPr>
              <a:t>Cash xuống dưới mức sàn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2D4E"/>
                </a:solidFill>
              </a:defRPr>
            </a:pPr>
            <a:r>
              <a:rPr sz="2025" b="0">
                <a:solidFill>
                  <a:srgbClr val="142D4E"/>
                </a:solidFill>
              </a:rPr>
              <a:t>Appetite: capacity_breach</a:t>
            </a:r>
          </a:p>
          <a:p xmlns:a="http://schemas.openxmlformats.org/drawingml/2006/main">
            <a:pPr>
              <a:defRPr sz="2025" b="0">
                <a:solidFill>
                  <a:srgbClr val="142D4E"/>
                </a:solidFill>
              </a:defRPr>
            </a:pPr>
            <a:r>
              <a:rPr sz="2025" b="0">
                <a:solidFill>
                  <a:srgbClr val="142D4E"/>
                </a:solidFill>
              </a:rPr>
              <a:t>Owner: CFO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56B13E-FA35-4E19-BE14-9DF7CF8FF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48375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42D4E"/>
                </a:solidFill>
              </a:defRPr>
            </a:pPr>
            <a:r>
              <a:rPr sz="1350" b="0">
                <a:solidFill>
                  <a:srgbClr val="142D4E"/>
                </a:solidFill>
              </a:rPr>
              <a:t>Công ty Mẫu | 2026-09-03 | Q4-2026 | VND (triệu) | v1</a:t>
            </a:r>
          </a:p>
        </p:txBody>
      </p:sp>
    </p:spTree>
    <p:extLst>
      <p:ext uri="{BB962C8B-B14F-4D97-AF65-F5344CB8AC3E}">
        <p14:creationId xmlns:p14="http://schemas.microsoft.com/office/powerpoint/2010/main" val="5969981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7B1D2F-F985-47D1-AF53-8846D6444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AD7E22"/>
                </a:solidFill>
              </a:defRPr>
            </a:pPr>
            <a:r>
              <a:rPr sz="1350" b="1">
                <a:solidFill>
                  <a:srgbClr val="AD7E22"/>
                </a:solidFill>
              </a:rPr>
              <a:t>SYNTHETIC · DỮ LIỆU THỬ NGHIỆM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1D7C2C-1847-4AA5-8126-A5D3322CE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81075"/>
            <a:ext cx="108204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D4E"/>
                </a:solidFill>
              </a:defRPr>
            </a:pPr>
            <a:r>
              <a:rPr sz="3600" b="1">
                <a:solidFill>
                  <a:srgbClr val="142D4E"/>
                </a:solidFill>
              </a:rPr>
              <a:t>R3 · Chất lượng và thu hồi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AF21E6-8772-4B57-AF98-F5C5A7840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43175"/>
            <a:ext cx="108204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D4E"/>
                </a:solidFill>
              </a:defRPr>
            </a:pPr>
            <a:r>
              <a:rPr sz="2025" b="0">
                <a:solidFill>
                  <a:srgbClr val="142D4E"/>
                </a:solidFill>
              </a:rPr>
              <a:t>Sai lệch quá trình đóng gói → Batch phải thu hồi</a:t>
            </a:r>
          </a:p>
          <a:p xmlns:a="http://schemas.openxmlformats.org/drawingml/2006/main">
            <a:pPr>
              <a:defRPr sz="2025" b="0">
                <a:solidFill>
                  <a:srgbClr val="142D4E"/>
                </a:solidFill>
              </a:defRPr>
            </a:pPr>
            <a:r>
              <a:rPr sz="2025" b="0">
                <a:solidFill>
                  <a:srgbClr val="142D4E"/>
                </a:solidFill>
              </a:rPr>
              <a:t>Chi phí recall và mất service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2D4E"/>
                </a:solidFill>
              </a:defRPr>
            </a:pPr>
            <a:r>
              <a:rPr sz="2025" b="0">
                <a:solidFill>
                  <a:srgbClr val="142D4E"/>
                </a:solidFill>
              </a:rPr>
              <a:t>Appetite: UNKNOWN · dữ liệu chưa đầy đủ</a:t>
            </a:r>
          </a:p>
          <a:p xmlns:a="http://schemas.openxmlformats.org/drawingml/2006/main">
            <a:pPr>
              <a:defRPr sz="2025" b="0">
                <a:solidFill>
                  <a:srgbClr val="142D4E"/>
                </a:solidFill>
              </a:defRPr>
            </a:pPr>
            <a:r>
              <a:rPr sz="2025" b="0">
                <a:solidFill>
                  <a:srgbClr val="142D4E"/>
                </a:solidFill>
              </a:rPr>
              <a:t>Owner: Quality Director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DEC32D-36A4-4C15-A3B4-FFB643240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48375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42D4E"/>
                </a:solidFill>
              </a:defRPr>
            </a:pPr>
            <a:r>
              <a:rPr sz="1350" b="0">
                <a:solidFill>
                  <a:srgbClr val="142D4E"/>
                </a:solidFill>
              </a:rPr>
              <a:t>Công ty Mẫu | 2026-09-03 | Q4-2026 | VND (triệu) | v1</a:t>
            </a:r>
          </a:p>
        </p:txBody>
      </p:sp>
    </p:spTree>
    <p:extLst>
      <p:ext uri="{BB962C8B-B14F-4D97-AF65-F5344CB8AC3E}">
        <p14:creationId xmlns:p14="http://schemas.microsoft.com/office/powerpoint/2010/main" val="24386846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E5E6B1-9F71-40D5-8F74-F25C871F0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AD7E22"/>
                </a:solidFill>
              </a:defRPr>
            </a:pPr>
            <a:r>
              <a:rPr sz="1350" b="1">
                <a:solidFill>
                  <a:srgbClr val="AD7E22"/>
                </a:solidFill>
              </a:rPr>
              <a:t>SYNTHETIC · DỮ LIỆU THỬ NGHIỆM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AD1E12-E0F3-4115-A629-E518431ED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81075"/>
            <a:ext cx="108204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D4E"/>
                </a:solidFill>
              </a:defRPr>
            </a:pPr>
            <a:r>
              <a:rPr sz="3600" b="1">
                <a:solidFill>
                  <a:srgbClr val="142D4E"/>
                </a:solidFill>
              </a:rPr>
              <a:t>SC1 · Port outage + chậm thu tiền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8C7DE9-E838-4734-A105-C286076C0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43175"/>
            <a:ext cx="108204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D4E"/>
                </a:solidFill>
              </a:defRPr>
            </a:pPr>
            <a:r>
              <a:rPr sz="2025" b="0">
                <a:solidFill>
                  <a:srgbClr val="142D4E"/>
                </a:solidFill>
              </a:rPr>
              <a:t>Incremental loss 11000 triệu VND; closing cash -2000 triệu VND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2D4E"/>
                </a:solidFill>
              </a:defRPr>
            </a:pPr>
            <a:r>
              <a:rPr sz="2025" b="0">
                <a:solidFill>
                  <a:srgbClr val="142D4E"/>
                </a:solidFill>
              </a:rPr>
              <a:t>Synthetic combined stress; không có probability/forecast; không cộng cash balance với P&amp;L loss.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2B02E3-5C7D-4E81-B23A-AFAE0E242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48375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42D4E"/>
                </a:solidFill>
              </a:defRPr>
            </a:pPr>
            <a:r>
              <a:rPr sz="1350" b="0">
                <a:solidFill>
                  <a:srgbClr val="142D4E"/>
                </a:solidFill>
              </a:rPr>
              <a:t>Công ty Mẫu | 2026-09-03 | Q4-2026 | VND (triệu) | v1</a:t>
            </a:r>
          </a:p>
        </p:txBody>
      </p:sp>
    </p:spTree>
    <p:extLst>
      <p:ext uri="{BB962C8B-B14F-4D97-AF65-F5344CB8AC3E}">
        <p14:creationId xmlns:p14="http://schemas.microsoft.com/office/powerpoint/2010/main" val="113228898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74EC89-6D36-429F-8EC5-776826080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AD7E22"/>
                </a:solidFill>
              </a:defRPr>
            </a:pPr>
            <a:r>
              <a:rPr sz="1350" b="1">
                <a:solidFill>
                  <a:srgbClr val="AD7E22"/>
                </a:solidFill>
              </a:rPr>
              <a:t>SYNTHETIC · DỮ LIỆU THỬ NGHIỆM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E714A8-8AFF-42FF-9F16-C0C1F7C91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81075"/>
            <a:ext cx="108204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D4E"/>
                </a:solidFill>
              </a:defRPr>
            </a:pPr>
            <a:r>
              <a:rPr sz="3600" b="1">
                <a:solidFill>
                  <a:srgbClr val="142D4E"/>
                </a:solidFill>
              </a:rPr>
              <a:t>TR1 · Quyết định nguồn lực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260EB2-D450-45BF-8FE8-945822FD5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43175"/>
            <a:ext cx="108204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D4E"/>
                </a:solidFill>
              </a:defRPr>
            </a:pPr>
            <a:r>
              <a:rPr sz="2025" b="0">
                <a:solidFill>
                  <a:srgbClr val="142D4E"/>
                </a:solidFill>
              </a:rPr>
              <a:t>Thử alternate port và cash contingency</a:t>
            </a:r>
          </a:p>
          <a:p xmlns:a="http://schemas.openxmlformats.org/drawingml/2006/main">
            <a:pPr>
              <a:defRPr sz="2025" b="0">
                <a:solidFill>
                  <a:srgbClr val="142D4E"/>
                </a:solidFill>
              </a:defRPr>
            </a:pPr>
            <a:r>
              <a:rPr sz="2025" b="0">
                <a:solidFill>
                  <a:srgbClr val="142D4E"/>
                </a:solidFill>
              </a:rPr>
              <a:t>COO + CFO · 2026-09-20 · proposed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2D4E"/>
                </a:solidFill>
              </a:defRPr>
            </a:pPr>
            <a:r>
              <a:rPr sz="2025" b="0">
                <a:solidFill>
                  <a:srgbClr val="142D4E"/>
                </a:solidFill>
              </a:rPr>
              <a:t>Cần 2 người; mới có 1</a:t>
            </a:r>
          </a:p>
          <a:p xmlns:a="http://schemas.openxmlformats.org/drawingml/2006/main">
            <a:pPr>
              <a:defRPr sz="2025" b="0">
                <a:solidFill>
                  <a:srgbClr val="142D4E"/>
                </a:solidFill>
              </a:defRPr>
            </a:pPr>
            <a:r>
              <a:rPr sz="2025" b="0">
                <a:solidFill>
                  <a:srgbClr val="142D4E"/>
                </a:solidFill>
              </a:rPr>
              <a:t>Giảm thời gian gián đoạn; chưa đo benefit thực tế (assumed)</a:t>
            </a:r>
          </a:p>
          <a:p xmlns:a="http://schemas.openxmlformats.org/drawingml/2006/main">
            <a:pPr>
              <a:defRPr sz="2025" b="0">
                <a:solidFill>
                  <a:srgbClr val="142D4E"/>
                </a:solidFill>
              </a:defRPr>
            </a:pPr>
            <a:r>
              <a:rPr sz="2025" b="0">
                <a:solidFill>
                  <a:srgbClr val="142D4E"/>
                </a:solidFill>
              </a:rPr>
              <a:t>Secondary risk: Alternate port tăng transit và phí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D48E14-AACC-4089-BDAF-85CC9939E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48375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42D4E"/>
                </a:solidFill>
              </a:defRPr>
            </a:pPr>
            <a:r>
              <a:rPr sz="1350" b="0">
                <a:solidFill>
                  <a:srgbClr val="142D4E"/>
                </a:solidFill>
              </a:rPr>
              <a:t>Công ty Mẫu | 2026-09-03 | Q4-2026 | VND (triệu) | v1</a:t>
            </a:r>
          </a:p>
        </p:txBody>
      </p:sp>
    </p:spTree>
    <p:extLst>
      <p:ext uri="{BB962C8B-B14F-4D97-AF65-F5344CB8AC3E}">
        <p14:creationId xmlns:p14="http://schemas.microsoft.com/office/powerpoint/2010/main" val="167850990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656270-085C-40BD-802B-DE5C93251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AD7E22"/>
                </a:solidFill>
              </a:defRPr>
            </a:pPr>
            <a:r>
              <a:rPr sz="1350" b="1">
                <a:solidFill>
                  <a:srgbClr val="AD7E22"/>
                </a:solidFill>
              </a:rPr>
              <a:t>SYNTHETIC · DỮ LIỆU THỬ NGHIỆM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13002E-F240-4196-BCD5-1EDDBF0A8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81075"/>
            <a:ext cx="108204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D4E"/>
                </a:solidFill>
              </a:defRPr>
            </a:pPr>
            <a:r>
              <a:rPr sz="3600" b="1">
                <a:solidFill>
                  <a:srgbClr val="142D4E"/>
                </a:solidFill>
              </a:rPr>
              <a:t>TR1 · No-action và target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87161A-59D1-4376-8522-0E3DA95C8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43175"/>
            <a:ext cx="108204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D4E"/>
                </a:solidFill>
              </a:defRPr>
            </a:pPr>
            <a:r>
              <a:rPr sz="2025" b="0">
                <a:solidFill>
                  <a:srgbClr val="142D4E"/>
                </a:solidFill>
              </a:rPr>
              <a:t>No-action: Synthetic: giữ exposure gián đoạn và cash shortfall của SC1.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2D4E"/>
                </a:solidFill>
              </a:defRPr>
            </a:pPr>
            <a:r>
              <a:rPr sz="2025" b="0">
                <a:solidFill>
                  <a:srgbClr val="142D4E"/>
                </a:solidFill>
              </a:rPr>
              <a:t>Target: Synthetic: khôi phục khả năng giao hàng; residual exposure chưa định lượng, chờ thử alternate 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42D4E"/>
                </a:solidFill>
              </a:defRPr>
            </a:pPr>
            <a:r>
              <a:rPr sz="2025" b="0">
                <a:solidFill>
                  <a:srgbClr val="142D4E"/>
                </a:solidFill>
              </a:rPr>
              <a:t>Target assessment IDs: Chưa cung cấp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0BE8A2-4D7B-4B12-BCF2-8F293686F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48375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42D4E"/>
                </a:solidFill>
              </a:defRPr>
            </a:pPr>
            <a:r>
              <a:rPr sz="1350" b="0">
                <a:solidFill>
                  <a:srgbClr val="142D4E"/>
                </a:solidFill>
              </a:rPr>
              <a:t>Công ty Mẫu | 2026-09-03 | Q4-2026 | VND (triệu) | v1</a:t>
            </a:r>
          </a:p>
        </p:txBody>
      </p:sp>
    </p:spTree>
    <p:extLst>
      <p:ext uri="{BB962C8B-B14F-4D97-AF65-F5344CB8AC3E}">
        <p14:creationId xmlns:p14="http://schemas.microsoft.com/office/powerpoint/2010/main" val="172898009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5248E7-5B67-418F-98EA-6E48B0E14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AD7E22"/>
                </a:solidFill>
              </a:defRPr>
            </a:pPr>
            <a:r>
              <a:rPr sz="1350" b="1">
                <a:solidFill>
                  <a:srgbClr val="AD7E22"/>
                </a:solidFill>
              </a:rPr>
              <a:t>SYNTHETIC · DỮ LIỆU THỬ NGHIỆM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E23E9C-E41A-4911-A2A4-7481B4596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81075"/>
            <a:ext cx="108204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42D4E"/>
                </a:solidFill>
              </a:defRPr>
            </a:pPr>
            <a:r>
              <a:rPr sz="3600" b="1">
                <a:solidFill>
                  <a:srgbClr val="142D4E"/>
                </a:solidFill>
              </a:rPr>
              <a:t>Khoảng trống bằng chứng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06B463-ACC3-44D3-81C2-D1DE86A17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43175"/>
            <a:ext cx="108204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D4E"/>
                </a:solidFill>
              </a:defRPr>
            </a:pPr>
            <a:r>
              <a:rPr sz="2025" b="0">
                <a:solidFill>
                  <a:srgbClr val="142D4E"/>
                </a:solidFill>
              </a:rPr>
              <a:t>C1: no evidence; conclusion must disclose the gap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D0AB26-1F61-496E-B9AB-DE866E54F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48375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42D4E"/>
                </a:solidFill>
              </a:defRPr>
            </a:pPr>
            <a:r>
              <a:rPr sz="1350" b="0">
                <a:solidFill>
                  <a:srgbClr val="142D4E"/>
                </a:solidFill>
              </a:rPr>
              <a:t>Công ty Mẫu | 2026-09-03 | Q4-2026 | VND (triệu) | v1</a:t>
            </a:r>
          </a:p>
        </p:txBody>
      </p:sp>
    </p:spTree>
    <p:extLst>
      <p:ext uri="{BB962C8B-B14F-4D97-AF65-F5344CB8AC3E}">
        <p14:creationId xmlns:p14="http://schemas.microsoft.com/office/powerpoint/2010/main" val="17755112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2026-09-03T18:57:33.0600000Z</dcterms:created>
  <dcterms:modified xsi:type="dcterms:W3CDTF">2026-09-03T18:57:33.0600000Z</dcterms:modified>
</coreProperties>
</file>